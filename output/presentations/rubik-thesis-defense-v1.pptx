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5bc5124d2e4b4a" /><Relationship Type="http://schemas.openxmlformats.org/officeDocument/2006/relationships/extended-properties" Target="/docProps/app.xml" Id="Ra8d217a3f2d84ef1" /><Relationship Type="http://schemas.openxmlformats.org/officeDocument/2006/relationships/officeDocument" Target="/ppt/presentation.xml" Id="Rf0b75fe48a6047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36f130fcf34c1e"/>
  </p:sldMasterIdLst>
  <p:notesMasterIdLst>
    <p:notesMasterId xmlns:r="http://schemas.openxmlformats.org/officeDocument/2006/relationships" r:id="R7892bbe4c6204f8f"/>
  </p:notesMasterIdLst>
  <p:sldIdLst>
    <p:sldId xmlns:r="http://schemas.openxmlformats.org/officeDocument/2006/relationships" id="256" r:id="R918a6150ead74a8a"/>
    <p:sldId xmlns:r="http://schemas.openxmlformats.org/officeDocument/2006/relationships" id="257" r:id="R30daf2a3a1054a9d"/>
    <p:sldId xmlns:r="http://schemas.openxmlformats.org/officeDocument/2006/relationships" id="258" r:id="R7240faf667b94872"/>
    <p:sldId xmlns:r="http://schemas.openxmlformats.org/officeDocument/2006/relationships" id="259" r:id="R07e0937b3d174d80"/>
    <p:sldId xmlns:r="http://schemas.openxmlformats.org/officeDocument/2006/relationships" id="260" r:id="Rdc7365d15f8b4ec3"/>
    <p:sldId xmlns:r="http://schemas.openxmlformats.org/officeDocument/2006/relationships" id="261" r:id="R8f43452aa86b4633"/>
    <p:sldId xmlns:r="http://schemas.openxmlformats.org/officeDocument/2006/relationships" id="262" r:id="Rc3614a2c77f545f9"/>
    <p:sldId xmlns:r="http://schemas.openxmlformats.org/officeDocument/2006/relationships" id="263" r:id="R33b0f8c294f34720"/>
    <p:sldId xmlns:r="http://schemas.openxmlformats.org/officeDocument/2006/relationships" id="264" r:id="Ra3db1146b3b64e21"/>
    <p:sldId xmlns:r="http://schemas.openxmlformats.org/officeDocument/2006/relationships" id="265" r:id="R8ae073003f54400d"/>
    <p:sldId xmlns:r="http://schemas.openxmlformats.org/officeDocument/2006/relationships" id="266" r:id="Rf91670b462df45f5"/>
    <p:sldId xmlns:r="http://schemas.openxmlformats.org/officeDocument/2006/relationships" id="267" r:id="R75b9e4743dd340aa"/>
    <p:sldId xmlns:r="http://schemas.openxmlformats.org/officeDocument/2006/relationships" id="268" r:id="R31994b621c6346c1"/>
    <p:sldId xmlns:r="http://schemas.openxmlformats.org/officeDocument/2006/relationships" id="269" r:id="R6a569a800d7b4012"/>
    <p:sldId xmlns:r="http://schemas.openxmlformats.org/officeDocument/2006/relationships" id="270" r:id="Rdf55118a08074ae9"/>
    <p:sldId xmlns:r="http://schemas.openxmlformats.org/officeDocument/2006/relationships" id="271" r:id="R2b39dbdb3ff74469"/>
    <p:sldId xmlns:r="http://schemas.openxmlformats.org/officeDocument/2006/relationships" id="272" r:id="Rb895a4dbf22546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9eed8c70f4220" /><Relationship Type="http://schemas.openxmlformats.org/officeDocument/2006/relationships/slideMaster" Target="/ppt/slideMasters/slideMaster1.xml" Id="R3c36f130fcf34c1e" /><Relationship Type="http://schemas.openxmlformats.org/officeDocument/2006/relationships/notesMaster" Target="/ppt/notesMasters/notesMaster1.xml" Id="R7892bbe4c6204f8f" /><Relationship Type="http://schemas.openxmlformats.org/officeDocument/2006/relationships/presProps" Target="/ppt/presProps.xml" Id="R0b74dca8a3a2401f" /><Relationship Type="http://schemas.openxmlformats.org/officeDocument/2006/relationships/viewProps" Target="/ppt/viewProps.xml" Id="Ra9c8f87b01104b0b" /><Relationship Type="http://schemas.openxmlformats.org/officeDocument/2006/relationships/tableStyles" Target="/ppt/tableStyles.xml" Id="R32d3057b723d4d0e" /><Relationship Type="http://schemas.openxmlformats.org/officeDocument/2006/relationships/slide" Target="/ppt/slides/slide1.xml" Id="R918a6150ead74a8a" /><Relationship Type="http://schemas.openxmlformats.org/officeDocument/2006/relationships/slide" Target="/ppt/slides/slide2.xml" Id="R30daf2a3a1054a9d" /><Relationship Type="http://schemas.openxmlformats.org/officeDocument/2006/relationships/slide" Target="/ppt/slides/slide3.xml" Id="R7240faf667b94872" /><Relationship Type="http://schemas.openxmlformats.org/officeDocument/2006/relationships/slide" Target="/ppt/slides/slide4.xml" Id="R07e0937b3d174d80" /><Relationship Type="http://schemas.openxmlformats.org/officeDocument/2006/relationships/slide" Target="/ppt/slides/slide5.xml" Id="Rdc7365d15f8b4ec3" /><Relationship Type="http://schemas.openxmlformats.org/officeDocument/2006/relationships/slide" Target="/ppt/slides/slide6.xml" Id="R8f43452aa86b4633" /><Relationship Type="http://schemas.openxmlformats.org/officeDocument/2006/relationships/slide" Target="/ppt/slides/slide7.xml" Id="Rc3614a2c77f545f9" /><Relationship Type="http://schemas.openxmlformats.org/officeDocument/2006/relationships/slide" Target="/ppt/slides/slide8.xml" Id="R33b0f8c294f34720" /><Relationship Type="http://schemas.openxmlformats.org/officeDocument/2006/relationships/slide" Target="/ppt/slides/slide9.xml" Id="Ra3db1146b3b64e21" /><Relationship Type="http://schemas.openxmlformats.org/officeDocument/2006/relationships/slide" Target="/ppt/slides/slide10.xml" Id="R8ae073003f54400d" /><Relationship Type="http://schemas.openxmlformats.org/officeDocument/2006/relationships/slide" Target="/ppt/slides/slide11.xml" Id="Rf91670b462df45f5" /><Relationship Type="http://schemas.openxmlformats.org/officeDocument/2006/relationships/slide" Target="/ppt/slides/slide12.xml" Id="R75b9e4743dd340aa" /><Relationship Type="http://schemas.openxmlformats.org/officeDocument/2006/relationships/slide" Target="/ppt/slides/slide13.xml" Id="R31994b621c6346c1" /><Relationship Type="http://schemas.openxmlformats.org/officeDocument/2006/relationships/slide" Target="/ppt/slides/slide14.xml" Id="R6a569a800d7b4012" /><Relationship Type="http://schemas.openxmlformats.org/officeDocument/2006/relationships/slide" Target="/ppt/slides/slide15.xml" Id="Rdf55118a08074ae9" /><Relationship Type="http://schemas.openxmlformats.org/officeDocument/2006/relationships/slide" Target="/ppt/slides/slide16.xml" Id="R2b39dbdb3ff74469" /><Relationship Type="http://schemas.openxmlformats.org/officeDocument/2006/relationships/slide" Target="/ppt/slides/slide17.xml" Id="Rb895a4dbf22546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c32a2bc1d47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16fee8145e4e4a" /><Relationship Type="http://schemas.openxmlformats.org/officeDocument/2006/relationships/notesMaster" Target="/ppt/notesMasters/notesMaster1.xml" Id="R9863a0a3e3744b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17f6d09d84428b" /><Relationship Type="http://schemas.openxmlformats.org/officeDocument/2006/relationships/notesMaster" Target="/ppt/notesMasters/notesMaster1.xml" Id="Rc7ab31234e1746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a326865e574979" /><Relationship Type="http://schemas.openxmlformats.org/officeDocument/2006/relationships/notesMaster" Target="/ppt/notesMasters/notesMaster1.xml" Id="R31980ce42480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93bc0f51354265" /><Relationship Type="http://schemas.openxmlformats.org/officeDocument/2006/relationships/notesMaster" Target="/ppt/notesMasters/notesMaster1.xml" Id="R95733a484bb64a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64cbfbcd5b49d1" /><Relationship Type="http://schemas.openxmlformats.org/officeDocument/2006/relationships/notesMaster" Target="/ppt/notesMasters/notesMaster1.xml" Id="R6f47137c47564b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8591f388224f96" /><Relationship Type="http://schemas.openxmlformats.org/officeDocument/2006/relationships/notesMaster" Target="/ppt/notesMasters/notesMaster1.xml" Id="Rba08dbe833744c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6e9ea3d3b14594" /><Relationship Type="http://schemas.openxmlformats.org/officeDocument/2006/relationships/notesMaster" Target="/ppt/notesMasters/notesMaster1.xml" Id="R0f9a09efc04849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388f93affd4e45" /><Relationship Type="http://schemas.openxmlformats.org/officeDocument/2006/relationships/notesMaster" Target="/ppt/notesMasters/notesMaster1.xml" Id="R71bb644cde3141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2270b8249b4f02" /><Relationship Type="http://schemas.openxmlformats.org/officeDocument/2006/relationships/notesMaster" Target="/ppt/notesMasters/notesMaster1.xml" Id="R7765cf29d72a49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493f97f1d945cd" /><Relationship Type="http://schemas.openxmlformats.org/officeDocument/2006/relationships/notesMaster" Target="/ppt/notesMasters/notesMaster1.xml" Id="Rc28c5c959f4748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2ef6552e26472f" /><Relationship Type="http://schemas.openxmlformats.org/officeDocument/2006/relationships/notesMaster" Target="/ppt/notesMasters/notesMaster1.xml" Id="Rb2280caaf1a844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a4b1dfe2664b3b" /><Relationship Type="http://schemas.openxmlformats.org/officeDocument/2006/relationships/notesMaster" Target="/ppt/notesMasters/notesMaster1.xml" Id="R9741eaad03d443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cd6c837d20471a" /><Relationship Type="http://schemas.openxmlformats.org/officeDocument/2006/relationships/notesMaster" Target="/ppt/notesMasters/notesMaster1.xml" Id="R279e003a822543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e0a8e54f694c3f" /><Relationship Type="http://schemas.openxmlformats.org/officeDocument/2006/relationships/notesMaster" Target="/ppt/notesMasters/notesMaster1.xml" Id="Rf6ad6ff2f4c943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1ecf600dc14498" /><Relationship Type="http://schemas.openxmlformats.org/officeDocument/2006/relationships/notesMaster" Target="/ppt/notesMasters/notesMaster1.xml" Id="R75d866f0cdad4c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c0f41263964fc8" /><Relationship Type="http://schemas.openxmlformats.org/officeDocument/2006/relationships/notesMaster" Target="/ppt/notesMasters/notesMaster1.xml" Id="R4737efe196724e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c23c0dfed64830" /><Relationship Type="http://schemas.openxmlformats.org/officeDocument/2006/relationships/notesMaster" Target="/ppt/notesMasters/notesMaster1.xml" Id="R6fb034ec416346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084238a7547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5d6aa9459645f6" /><Relationship Type="http://schemas.openxmlformats.org/officeDocument/2006/relationships/slideLayout" Target="/ppt/slideLayouts/slideLayout1.xml" Id="R51642745b80947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642745b80947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576ef3e564554" /><Relationship Type="http://schemas.openxmlformats.org/officeDocument/2006/relationships/notesSlide" Target="/ppt/notesSlides/notesSlide1.xml" Id="R2b19c7262d7547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856508cd54cfa" /><Relationship Type="http://schemas.openxmlformats.org/officeDocument/2006/relationships/notesSlide" Target="/ppt/notesSlides/notesSlide2.xml" Id="Rac420680f07548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95893f1364351" /><Relationship Type="http://schemas.openxmlformats.org/officeDocument/2006/relationships/notesSlide" Target="/ppt/notesSlides/notesSlide3.xml" Id="R60ba923c0c2b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35dad3e6341c6" /><Relationship Type="http://schemas.openxmlformats.org/officeDocument/2006/relationships/notesSlide" Target="/ppt/notesSlides/notesSlide4.xml" Id="R8d1d34f7fd4146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accb2b68b4760" /><Relationship Type="http://schemas.openxmlformats.org/officeDocument/2006/relationships/notesSlide" Target="/ppt/notesSlides/notesSlide5.xml" Id="R594d726d04b04b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156fad3224c98" /><Relationship Type="http://schemas.openxmlformats.org/officeDocument/2006/relationships/notesSlide" Target="/ppt/notesSlides/notesSlide6.xml" Id="R7eb31932222940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86b6dead949b0" /><Relationship Type="http://schemas.openxmlformats.org/officeDocument/2006/relationships/notesSlide" Target="/ppt/notesSlides/notesSlide7.xml" Id="R07f43267aa45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c1c56f2ae4447" /><Relationship Type="http://schemas.openxmlformats.org/officeDocument/2006/relationships/notesSlide" Target="/ppt/notesSlides/notesSlide8.xml" Id="R896344ba55d54a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25448ffe247f4" /><Relationship Type="http://schemas.openxmlformats.org/officeDocument/2006/relationships/notesSlide" Target="/ppt/notesSlides/notesSlide9.xml" Id="R839b8ed0ca4645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c0a179d22441b" /><Relationship Type="http://schemas.openxmlformats.org/officeDocument/2006/relationships/notesSlide" Target="/ppt/notesSlides/notesSlide10.xml" Id="R8b473d13c89248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daca247264aa4" /><Relationship Type="http://schemas.openxmlformats.org/officeDocument/2006/relationships/notesSlide" Target="/ppt/notesSlides/notesSlide11.xml" Id="R9933fbafa0f142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21229262a47b8" /><Relationship Type="http://schemas.openxmlformats.org/officeDocument/2006/relationships/notesSlide" Target="/ppt/notesSlides/notesSlide12.xml" Id="R7a0c6a07076b46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704c4f8254df0" /><Relationship Type="http://schemas.openxmlformats.org/officeDocument/2006/relationships/notesSlide" Target="/ppt/notesSlides/notesSlide13.xml" Id="R8512a6b84bbb48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e80b9b77e41cc" /><Relationship Type="http://schemas.openxmlformats.org/officeDocument/2006/relationships/notesSlide" Target="/ppt/notesSlides/notesSlide14.xml" Id="Rcb5738d3970545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e0b896ad34928" /><Relationship Type="http://schemas.openxmlformats.org/officeDocument/2006/relationships/notesSlide" Target="/ppt/notesSlides/notesSlide15.xml" Id="Rb1517679a67d4f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2c78126bb4dbd" /><Relationship Type="http://schemas.openxmlformats.org/officeDocument/2006/relationships/notesSlide" Target="/ppt/notesSlides/notesSlide16.xml" Id="R154fa65fbfa846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1e81cca8848ae" /><Relationship Type="http://schemas.openxmlformats.org/officeDocument/2006/relationships/notesSlide" Target="/ppt/notesSlides/notesSlide17.xml" Id="R4840fda1beff43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7B758-5001-44AD-AFE3-B2212D43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E28F2-CAA0-4B10-BD5B-305FA111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B2DEA-2930-40D4-9C2E-630E254D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62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F5C47-387D-4E78-A44F-4028279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762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76F97-4778-4945-A723-382D7301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762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830EB-44EE-4692-A461-2308D549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162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B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93F02-DCBB-4CE9-AC78-828F84F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162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C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C6748-4BC8-4E9C-9F32-CD308B72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162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932F0-A1A9-439B-984A-07BAC6A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62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33749-A336-4B2B-9652-655AB88D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562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49B46-80C8-49BE-ABA5-58F02D2D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562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8DC21-21B6-4C61-896E-B04E7F12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Παρουσίαση Διπλωματικής Εργασίας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AD3DC-D5C8-4A9F-A01D-2863DE54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191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Αλγόριθμοι Βέλτιστης Επίλυσης</a:t>
            </a:r>
          </a:p>
          <a:p xmlns:a="http://schemas.openxmlformats.org/drawingml/2006/main">
            <a:pPr algn="l">
              <a:defRPr sz="40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για τον Κύβο του Rubik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389C8-834E-433D-96A5-D3D59B26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Optimal Solution Algorithms for Rubik's Cube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6BC92-0499-4F69-9277-42E3748F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Αλέξανδρος Τόσκα</a:t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Επιβλέπων: Κυριάκος Σγάρμπας, Αναπληρωτής Καθηγητής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7F013-CF1A-4CEB-A0C1-71973AA9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18FFB-09D8-411F-82C4-D4811817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rPr>
              <a:t>3 στόχοι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922B2-ECD7-4D72-B49C-5CBC2956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αλγόριθμοι, απόσταση, ευρετική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6C1B0-AFFA-4B71-A914-4DD29D97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197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8D610-0A19-4F60-B144-470C109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530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4 tracks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5948B-B95C-403B-9039-71376ED1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864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Korf, Kociemba, Thistlethwaite, H48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3770E-4508-45D0-869D-4172E2EE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197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EC02C-2C4E-4B96-9C09-CA1FB437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530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1 αρχή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7D0D6-508A-4347-9F5E-682F8ABB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χωρισμός λύσης από απόδειξη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2C6C0-D29C-491B-8FB3-3682A636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specs/topic_brief.pdf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75E32-0A5C-4CB8-A9AE-AAD66A61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01271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89A526-1028-4FCE-A0C2-4CFACD49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714EE-F5BA-472B-9ED4-D1D7A25A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9684F4-5709-4241-B815-77031B11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F97354-AA74-44C8-8A62-CD1F68C6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5C564-94EE-4932-A6FE-2F10DD58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Το δύσκολο δεν είναι να λυθεί ο κύβος - είναι να αποδειχθεί ότι η λύση είναι η συντομότερη.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669F7-D8C3-4749-A5A9-BA4560D6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thesis/main.pdf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D9261-121A-4C89-8C0D-35E7F344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B23CF-061B-49C6-AD67-7CD73878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rPr>
              <a:t>4.3 x 10^19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23ADA-8002-4F6F-B95D-21A9CD5E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προσβάσιμες καταστάσεις στον 3x3x3 κύβο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2B538-8828-4345-9E71-3714AC65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6C9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6C9E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3BF2E-BF6B-4BC9-AA92-791B2908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μέγιστη γνωστή απόσταση σε HTM (God's Number)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4FCF5-2F86-4DEA-8741-DA042DBD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43150"/>
            <a:ext cx="54292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764DD-3F98-43A0-A8D0-2B0C67B9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479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Στην εργασία η λέξη 'βέλτιστη' σημαίνει ισχυρισμό απόδειξης.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939DB-3485-43AC-A856-7783D53D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90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9BB4F-74A5-4CC8-A180-4BB53633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436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Η λύση πρέπει να επαληθεύεται ανεξάρτητα.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6795A-C45F-403F-919C-259DF426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B4DDC-D9E3-4861-8E4A-BD1DAC65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436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Η μη ύπαρξη μικρότερης λύσης πρέπει να τεκμηριώνεται.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3DBF7-11CC-4183-8C66-5E2EF288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0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BC2CC-684D-409D-8F63-60D5DC2F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29100"/>
            <a:ext cx="436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Όπου η αναζήτηση δεν ολοκληρώνεται, το αποτέλεσμα δεν ονομάζεται βέλτιστο.</a:t>
            </a:r>
          </a:p>
        </p:txBody>
      </p:sp>
    </p:spTree>
    <p:extLst>
      <p:ext uri="{BB962C8B-B14F-4D97-AF65-F5344CB8AC3E}">
        <p14:creationId xmlns:p14="http://schemas.microsoft.com/office/powerpoint/2010/main" val="3854258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5EE3B7-7E11-4497-B17E-26F45E2D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3CCA3-EBEA-4BAC-A3EE-153D4ADA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39531C2-9C6D-45B4-BA06-03118A02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0B47E71-4CC8-48DD-9FA1-AAB77F7C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OFFICIAL GOALS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63742-FACA-4816-96E7-C6FBCCF1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Το επίσημο θέμα μετατρέπεται σε τρεις ελέγξιμες τεχνικές υποχρεώσεις.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C903D-6C70-4AF3-A52B-CB554A88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specs/topic_brief.pdf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F6F79-59E5-4C4C-94E0-AA6850FE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892E7-16AF-42E1-AE41-DDE5C677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048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FDF4F-B556-431F-BD78-DF403E07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C1120-B534-44C8-BDED-3F43A36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Υλοποίηση αλγορίθμων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6A5E8-9CC2-4C06-BE48-1E7A358C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Thistlethwaite, Kociemba, Korf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7FEF0-9F26-447C-B6A2-E63C9BE0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F1B2D-0FA9-4317-82B1-D4AB7D70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005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solvers +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4B8DB-D001-455B-A06A-F9D1FB44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3048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0A006-B28B-4EFF-B6E8-5EAA0F9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6C9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6C9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3B386-8114-48EF-8A6A-7A30AB7C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Αναγνώριση απόστασης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7C463-F087-4D44-A567-036A1945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exact distance μόνο όταν υπάρχει πλήρης απόδειξη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5EE9B-7E7C-4858-B7EC-E20019C2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613DD-6C77-48A6-94DC-6F3E420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005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/ lower-bound labels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518A0-BE7C-4528-B712-919BEBA4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3048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E19B8-1D77-425A-81EA-78547B98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A7D4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A7D4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2ADFE-A32A-4350-83DA-3FDA7413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Παραδεκτή ευρετική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FB46-1CB3-4245-8F10-5027DED7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A* ή παραλλαγή του για βέλτιστη αναζήτηση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9C97D-97FE-44DA-8BDF-671ACBB6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21E0E8-B56F-4813-AA83-890A6042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005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Korf/IDA* + PDBs</a:t>
            </a:r>
          </a:p>
        </p:txBody>
      </p:sp>
    </p:spTree>
    <p:extLst>
      <p:ext uri="{BB962C8B-B14F-4D97-AF65-F5344CB8AC3E}">
        <p14:creationId xmlns:p14="http://schemas.microsoft.com/office/powerpoint/2010/main" val="15625720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172431-119D-4730-988F-0C4A08D5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31E57-B80E-48A5-88FB-2B81863D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17AEB50-774B-417E-8CE6-DAFC9D76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078A6FE-AAC6-4500-99E9-67A9F07E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THEORY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5382C-E604-409B-88A9-7932FC1F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Η απόδειξη βελτιστότητας περνά από μετρική, παραδεκτή ευρετική και πλήρη αναζήτηση ορίων.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A6914-7A21-4A95-B21E-4FBBCF7C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thesis/main.pdf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F5408-573D-4701-A020-3D0AF249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DCDB5-07B2-44E5-8115-8485E6AB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250A8-846F-43A7-8ABC-70E9B1F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4DCF4-0E21-4106-AAC0-6C55C39C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HTM 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C12F1-08B8-44F6-A927-D550925C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1781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±90° ή 180° = μία κίνηση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A9D95-E7D8-4A79-A246-1CB267FB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314700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2DFDA-43F1-4D7B-8BD5-1A1D0567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0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A4503-7D2D-4FAD-88C8-4D6C2CF8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0960E-6118-4510-B04F-DB465A6D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F9C6B-A7A4-44FC-9143-BC0B6577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1465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admissible h(n)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A29E0-0BC5-48C7-B80C-99E7B726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0400"/>
            <a:ext cx="1781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δεν υπερεκτιμά την πραγματική απόσταση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6436C-F8C0-45C4-A709-92EABECA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14700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3F990-F9BD-4B70-82CC-16C2ABBB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0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2EBBE-FEA0-4F86-A89A-0243D6CD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78AF1-D1A9-4565-A28A-A7062384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BC087-C3D6-4252-9701-1B35476C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IDA*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8991C-3F9D-4D04-94AE-570AB611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1781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επαναληπτική εμβάθυνση με κάτω φράγμα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4689E-3C7C-4CE6-B70A-829D6690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14700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21E38-7312-4D6C-BA10-50B9DCA1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0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DF5D37-DF0D-4EB1-8970-707E1A30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F62D6-6FF7-4486-BCA3-EE26680B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BC7501-6B38-490E-9A0D-407A1CEF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369CC3-02B9-4944-8B79-ABFFF2AB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1781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κανένα μικρότερο βάθος δεν δίνει λύση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4FF558-5E64-4FA9-BAB5-7EA63E0A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8630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0F761B-D18A-4984-A617-36F856D5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57750"/>
            <a:ext cx="752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Η παρουσίαση κρατά χωριστά: πρακτική λύση, επαληθευμένη λύση, αποδεδειγμένη βέλτιστη λύση και κάτω φράγμα.</a:t>
            </a:r>
          </a:p>
        </p:txBody>
      </p:sp>
    </p:spTree>
    <p:extLst>
      <p:ext uri="{BB962C8B-B14F-4D97-AF65-F5344CB8AC3E}">
        <p14:creationId xmlns:p14="http://schemas.microsoft.com/office/powerpoint/2010/main" val="13895670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E81286-340B-4549-8F52-7D619942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A7312-B256-4EC3-86AD-FC01C39B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EC7E08-7CFF-4B71-B8A6-DAAF131E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1BAAC2-BEB7-4108-910B-BB56CF3E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13203-4793-4181-B7CB-5726B57B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Η εργασία τοποθετείται πάνω σε τέσσερις κλασικές γραμμές λύσης και απόδειξης.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FDD18-072C-4E79-8A76-95D33C6F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thesis/main.pdf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B9148-60C7-45D8-AA5E-08444427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931A9-C29B-4564-A5F8-21CA4AEF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755C9-485D-427C-98D3-B1AA3E2E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03F68-5F52-4CED-9884-A4C60001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Thistlethwaite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38940-FFCD-44FC-8DC7-49955CEC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υποομάδες και φάσεις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62A73-155B-4D5D-9E45-3190E559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43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37720-EAF3-4E8D-BE7A-E2F97FF0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33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Kociemba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F25BB-F73E-4709-8ED5-F61EFE76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76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δύο φάσεις και πρακτικές σύντομες λύσεις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3DA07-36F0-4CA2-8A76-600A1A0E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6A8F5-BF01-46B2-8F6F-999BDB42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Korf / IDA*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CBB23-1CD9-4CA7-AE00-4A3B8E52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παραδεκτή αναζήτηση με πίνακες προτύπων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EBF6D-C8AF-44AB-9C87-6471A6D6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43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CF6C0-52DA-4484-81A9-13B282EC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33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God's Number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B0165-1D50-45E4-A131-7958D62A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076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θεωρητικό όριο 20 κινήσεων σε HTM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6477A-5E5A-41FE-843F-5E8A2169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768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Η συνεισφορά εδώ δεν είναι νέα καθολική απόδειξη για τον 3x3x3 κύβο. Είναι μια υλοποίηση/μελέτη που δηλώνει ακριβώς τι αποδεικνύεται σε κάθε αποτέλεσμα.</a:t>
            </a:r>
          </a:p>
        </p:txBody>
      </p:sp>
    </p:spTree>
    <p:extLst>
      <p:ext uri="{BB962C8B-B14F-4D97-AF65-F5344CB8AC3E}">
        <p14:creationId xmlns:p14="http://schemas.microsoft.com/office/powerpoint/2010/main" val="9571472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313316-3B99-497F-A860-BEC845A5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4E2CC-CD19-4FD4-B372-17E14E9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9ADF28-B129-43A3-86A5-4CE2199B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BCDD89C-C707-49BA-BAD5-76EB94C8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CONTRIBUTIONS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A040E-C36F-416C-A86C-DB93FB17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Η εργασία παραδίδει πλαίσιο με κοινό μοντέλο, solver tracks και επαληθεύσιμα τεκμήρια.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F68B7-0F27-4ED3-940B-44939F8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thesis/main.pdf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837AB-DAD5-498C-B3D7-ABE73037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E4CF3-03BC-45EC-8420-D436C4F7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3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8AF06-3F61-4D9B-907A-638DFB44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955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D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43D2B"/>
                </a:solidFill>
                <a:latin typeface="Aptos"/>
                <a:ea typeface="Aptos"/>
                <a:cs typeface="Aptos"/>
              </a:rPr>
              <a:t>Cube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6D645-FBC2-4449-A7FA-07F7469C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050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cubies, legal moves, φυσική εγκυρότητα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B0908-3AEB-4817-9547-D78F5FE8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693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C2D59-913C-4E32-A596-47967507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622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Solver tracks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A9642-F01E-4078-8D7F-28530A7D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415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Thistlethwaite, Kociemba, Korf/IDA*, H48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6E906-AD05-4E16-BCC1-84E5919A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6438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3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61D87-BC46-4ABC-AFFB-8669D4E6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290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DE77D-5292-4BD8-8641-45E4EB3E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38550"/>
            <a:ext cx="382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ανεξάρτητος έλεγχος κάθε επιστρεφόμενης λύσης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51C0D-6C15-463E-B4BE-1345E7A1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594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A4995-3EFA-4F30-86D2-BF0118AD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957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Evidence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9806C-7EF2-42FD-99D5-BDA19145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0530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exact, non_exact, lower_bound, timeout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5CDE8-FB2D-4E54-BF95-702B896F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38700"/>
            <a:ext cx="5448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3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E2D4A-92DA-46B7-A681-EDC6E10C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625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04FFC-54C6-41FC-BBDF-773512A0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3181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scripts, tables, figures, saved 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8194E-3F8A-4C48-9D85-1993708E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152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F3A86-C3FE-47BE-810F-31825125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9080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F602E-BD56-4E18-B169-75FDFD90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2420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cases per solver in the main benchmark summary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5403B-5A33-4A67-940C-26775527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rPr>
              <a:t>52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810204-B1E2-4A73-B271-5694BECC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481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verified rows checked by result verifier</a:t>
            </a:r>
          </a:p>
        </p:txBody>
      </p:sp>
    </p:spTree>
    <p:extLst>
      <p:ext uri="{BB962C8B-B14F-4D97-AF65-F5344CB8AC3E}">
        <p14:creationId xmlns:p14="http://schemas.microsoft.com/office/powerpoint/2010/main" val="7242446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855C8-7A54-4A38-A459-F54F9C9A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4F79C-303D-4FBB-9278-7E4AFFB7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5E2FC6-EC15-48EA-80A7-3D10D016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BB60D3-DCC2-498B-8D17-3269868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CUBE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C0457-AC26-4056-BC61-B60D6C56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Κάθε ισχυρισμός ξεκινά από κοινή αναπαράσταση κατάστασης και έλεγχο εγκυρότητας.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DFF1B-C980-47DC-9EDB-3D525E34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thesis/main.pdf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86560-E012-4339-810F-CDF84E93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1AE82-25DD-4558-AF28-6F12DA2B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56393-F1AC-4456-B181-12CD25DA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812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1CE8F-2C03-4EA3-AFC1-E0ED5EE6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812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0D8B6-E7F4-41CA-88CD-F4CA39F4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B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24FFA-3494-41B1-B9E3-97365DB6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C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03F1D-D4F9-40A3-B74E-5A42E6D9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813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10DDA-59AE-45CB-A642-F34F490C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4A6CA-ADB7-4CA6-AA57-F52236D8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813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50E62-AA00-4D49-AF6D-58F9C8C6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813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07D61-4E7B-4395-B8CB-9029C50A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6954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0DE16-C9A9-4A91-9638-2D7DAC92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E9AFE-7C8E-4DDE-A38D-B43E3718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Facelets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927CA-BE9B-447D-853F-9B511FF9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είσοδος από συμβολοσειρά ή ακολουθία κινήσεων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36908-7B72-4E17-8CD4-653C7907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B953C-B2A1-4663-B65A-40558E80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559727-74E8-4C17-AE08-43B81B11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6954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51A65-6BF1-49F1-A3B1-38C0A6E8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E6E797-2618-4186-A7F7-6FFA008B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432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Cubies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006D05-F319-4807-AB89-D2083E65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γωνίες, ακμές, προσανατολισμοί, μεταθέσεις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AD1876-B59A-4579-8249-8B614ED7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3FDC1-BCE2-4EAE-9FF8-2A7F09CA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3A295-A35B-41B2-8EAE-47B3FBC2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16954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BD9B78-3038-4AE8-BEF9-2DC49C3C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D9481-C6D7-4C6E-A5F9-B087C7B3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432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Validity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6071EB-5705-4A99-AEDE-A2AA8C75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parity, orientation sums, legal-state checks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9DD111-5ED9-4421-BB46-2521B24A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F7CAC2-7842-4C26-8F0F-C1A1A989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E70E41-F1AB-4BDD-AF6F-88DC8E09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6954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3E2C25-B492-4D5D-9D9B-0692DE19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A4BF1D-AA88-4E2C-AAF9-38E8484C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Verifier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846EE1-AE25-401E-9B0D-6594A4A1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εφαρμογή λύσης και τελικός έλεγχος solved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4C2E46-95C6-4838-8B9A-24E1F38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58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Έτσι οι solver συγκρίνονται πάνω στο ίδιο αντικείμενο και όχι σε διαφορετικές αναπαραστάσεις.</a:t>
            </a:r>
          </a:p>
        </p:txBody>
      </p:sp>
    </p:spTree>
    <p:extLst>
      <p:ext uri="{BB962C8B-B14F-4D97-AF65-F5344CB8AC3E}">
        <p14:creationId xmlns:p14="http://schemas.microsoft.com/office/powerpoint/2010/main" val="19252412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AEEF12-58E4-4D3F-B6A1-C0DB70C2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ACEFD-DCE6-4144-8511-1CF9576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A2DD0E9-9A22-43B0-8CB5-EE9A0DCC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2942427-9DC9-402A-8AFE-1315A934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C40BB-30D9-4C99-A2FA-BB32FDA5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Η υλοποίηση διαχωρίζει είσοδο, μοντέλο, solvers, native μηχανές και τεκμήρια.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9C9B7-7271-4744-AE96-135C8A60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thesis/main.pdf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AF155-3FFE-4DF8-A2D0-A971325E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C8A11-C90D-497C-ACDC-2AD7B7F2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33600"/>
            <a:ext cx="3286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A57F2-BC03-4861-A604-646C68EA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336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4DFC5-0F11-452F-AB0A-FED1ED81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66950"/>
            <a:ext cx="3038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CLI / scripts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1EEDF-436E-4ED6-BFF4-844B0C80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52700"/>
            <a:ext cx="3019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scramble, solve, benchmark, 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A6415-1526-4CE9-AEB4-1A93C061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3286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C22E1-B994-4A60-A7CD-4B24BC5B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AFD59-CA95-483B-9605-D4D819CE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66950"/>
            <a:ext cx="3038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Result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3FB9D-D8E0-4003-87FF-FC5BBB5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52700"/>
            <a:ext cx="3019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JSON, CSV, LaTeX tables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1CFFD-AE62-428A-A453-8BAF9D86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955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0C29A-9701-4A3C-83BB-8C943FB7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B6172-E060-4B5B-9910-C90B3B11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3286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61EA3-24AB-4CEE-9245-DC90BAC2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789FA-88ED-407A-B3D7-5C03B1AD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71850"/>
            <a:ext cx="3038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Cube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CE746-8031-4C26-950D-331C3842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57600"/>
            <a:ext cx="3019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moves, validity, coordinates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8FD92-5684-4909-874B-C1F6E2BE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3286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5B704-18B2-486D-A55F-076CD8F5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0A47C-0ED7-483B-964C-881CF431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71850"/>
            <a:ext cx="3038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Verifier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F3171-80FC-4F96-803C-27814BAF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57600"/>
            <a:ext cx="3019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independent solution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0A5B7-3BDB-4872-9E6A-7BD108B1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004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DDA4B-955F-416A-9265-995BA3E4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86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3D05B-CA13-4118-8301-7126EF38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43400"/>
            <a:ext cx="3286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A23348-2526-4037-BB15-C1B210C6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434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6439D-8C3C-4520-8702-47467ED0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3038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Python solvers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4A6B93-AAB1-4BD2-AF6F-F8000BAD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62500"/>
            <a:ext cx="3019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Kociemba, Thistlethwaite, Korf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35A87-1696-4334-BE47-D7032847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43400"/>
            <a:ext cx="3286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E6977B-804B-4E77-A071-98AFE84B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434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17A14-DCD6-4CFC-A40D-51FB2A5F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76750"/>
            <a:ext cx="3038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Native C/C++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6545DA-E591-405F-B74A-570463ED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762500"/>
            <a:ext cx="3019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PDB generation, optimal evidence, H48 backend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9A2F8A-6417-479A-9591-B949EAD1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053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2A80BB-0937-46E1-A48C-5FE9D916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910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96DA57-43A9-4E31-8C2A-4C67E5E3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765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94A9C5-E90B-4426-9B87-6DF6A2A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765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034F7E-3D14-4A55-A9D9-44431FBA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814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C36754-56AD-469D-9FBD-DDB3B39D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814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21494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DFCFAE-4B20-4991-9FB7-03501010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B4526-372F-4FA8-8B0B-3D4F007E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BF13556-F280-469D-86BF-D9F88696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45358A5-43CA-42BE-8951-09C2F8BE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ALGORITHM GUARANTEES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A64E5-5A3E-4482-B4DF-E609FBC3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Οι solver δεν έχουν την ίδια σημασία: άλλοι δίνουν πρακτική λύση, άλλοι ολοκληρωμένη απόδειξη.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DDDF8-0737-4000-8685-30ADFCC1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thesis/tables/*.tex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41A9E-76C7-431B-A9D4-4D32610C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D93FF-4D6B-4D8E-8472-EAD92BBF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047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E2441-DF73-450C-999C-3722F15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1857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8860F-9778-4B2B-92AC-47B78DC1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133600"/>
            <a:ext cx="3048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228FC-1A9A-4978-8D41-CA21D043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1932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9BA91-F6B7-4245-96E4-15FA7E8B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33600"/>
            <a:ext cx="2476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D88AF-D146-4BA6-B1AC-82B97D25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193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Claim 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691B4-3852-4567-8BE1-F635D7A1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33600"/>
            <a:ext cx="2286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CF0B7-2DF3-40C9-8B90-BDC75A72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193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DF077-5702-42E2-BC94-FF242B7F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047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AD26C-FC75-4355-BC3F-8B027F41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1857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Korf / IDA*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BB9BB-FDE4-4F73-B6A8-702DE62F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86050"/>
            <a:ext cx="3048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AA83C-071F-4C20-9FD5-FEF11E02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7177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admissible search with PDB lower bounds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E47EB-1CB9-471B-8AF4-29137135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86050"/>
            <a:ext cx="2476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21528-0A57-47D2-ACA0-04B4A7BB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7177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exact when 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946C4-41E0-494A-AFB7-C021628D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86050"/>
            <a:ext cx="2286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7848E-C16B-4532-A045-5D795827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717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tests + PDBs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BA7094-558C-4ACA-82C1-24868D5F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047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31242C-D888-4079-8A2F-4F394A1E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1857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Kociemba native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5F6F4-6125-49E6-B645-D96E0910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38500"/>
            <a:ext cx="3048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E8B62D-CD9C-40AD-9612-117F349B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2422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scoped two-phase implementation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15426-E2CB-4738-8192-6CD01CCE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38500"/>
            <a:ext cx="2476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1B47AB-7B78-4849-AD0B-D7845D40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3242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verified non-exact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D5FC57-D9C6-4AB0-A85F-D03BC787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38500"/>
            <a:ext cx="2286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A141F8-6E62-4417-B311-04580A5C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242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solver + verifier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4F480D-1806-4FE2-AE12-C33146DE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47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1DD386-F6F5-45B3-8C1C-CE230BED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1857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Thistlethwaite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AF500F-096D-4BB8-9F12-BF4DA3FB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790950"/>
            <a:ext cx="3048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A75F7E-EEC8-4661-9B82-68DA2135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7667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four phase subgroup descent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DC900F-57B9-4244-8688-A8EECF3E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790950"/>
            <a:ext cx="2476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5CD1EB-82A1-4CA6-A661-D0623725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87667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verified non-exact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274E2A-4617-4692-BEF5-C413FF67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790950"/>
            <a:ext cx="2286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590819-455B-4DC2-8653-D7207FF7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766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stage tables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F47BCA-84FD-40DE-8528-3AD31D3A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047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E8D074-8E8A-48E9-8DFF-7B53A21D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1857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H48 / Nissy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81104F-D9C9-40F4-9B1C-73218F51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343400"/>
            <a:ext cx="3048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0EC973-2E51-417E-BFDE-6ABD4D3E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42912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public-solver-derived evidence path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52B48C-C0AD-432C-893F-C6CF95CA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43400"/>
            <a:ext cx="2476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B128FD-64BD-407A-8BC7-BA83FB62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4291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supporting exact evidence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7A03D2-2CD0-42DB-88CB-01C5AAE5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343400"/>
            <a:ext cx="2286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36925E-0400-4EA9-8D63-58A2CCB4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4291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attributed boundary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F149EC-4DC4-41BA-B395-80742809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985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F3AEFC-A708-4CE8-93C0-77B4DAB1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Η επιτροπή πρέπει να δει τον ρόλο κάθε solver, όχι απλώς μια λίστα ονομάτων.</a:t>
            </a:r>
          </a:p>
        </p:txBody>
      </p:sp>
    </p:spTree>
    <p:extLst>
      <p:ext uri="{BB962C8B-B14F-4D97-AF65-F5344CB8AC3E}">
        <p14:creationId xmlns:p14="http://schemas.microsoft.com/office/powerpoint/2010/main" val="2604908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F8A15A-B30A-4236-9348-28EE6B51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90D44-5FFA-4BE2-B52A-1228B5EA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168516B-0675-42D4-B75B-BC8C9B07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C55BDB-B695-4D01-9FF5-1140B795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HEURISTIC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06C84-9C48-426C-B5DC-D88C1134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Η απάντηση στον στόχο A*/IDA* είναι παραδεκτή αναζήτηση με πίνακες προτύπων.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F7730-0177-46C1-B1DE-534283E0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thesis/main.pdf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B7959-6C5D-40DD-A5A8-69E6B56E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ED216-6E5E-4490-93A9-FFA62A05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F5E05-E10D-4415-B1BA-64D22CC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405CF-ADEF-4AB5-93B7-41AAF03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2EBBF-A612-4EB6-8C20-921978D6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valid cube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5425B-279B-42DB-8260-E223F55F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86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2AB54-60DC-4B7B-998F-CDC3567B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718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034C3-A48B-4A37-BE2E-97D8659A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DEB42-03CD-45BC-BC15-58D465E5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5FD8D-A19F-47BA-8EAD-B154E908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33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Coordinates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2F992-297F-4664-BA47-C7EA4B83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corner / edge projections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295B6-E7C7-43E4-8D4A-5E2006A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86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EA809-E43C-4427-812B-B55DD39C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718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2CFBD-F41C-4739-8E2C-41084877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03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A18AB-3E35-4FAD-A594-229D1BBE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03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0D93F-A6D8-4420-BEA7-B020B6B5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33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PDBs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CA34D-EA74-478C-867B-51059A7A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194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corner + 6-edge pattern databases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438CF-A166-4571-8CAE-0CE8C694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86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B6918-E35D-4F9E-9913-40AC8A95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718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BF818-8F87-47B0-AC22-5F99E0D7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03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7969AD-8675-4B11-A7C5-4C15446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03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80ED03-3C5B-4ED8-8C6B-9D161AD7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Lower bound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463458-1E5B-463F-A382-D9A2B5CE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admissible h(n)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69E120-851B-4D4D-9E37-20B20B54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FE00D-EA4A-40C8-9441-84F51A78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718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5A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B5A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AB92E4-26FA-4362-B6A3-41CEF387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03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65C80E-A705-440B-97C1-E514D108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03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B40171-1011-47CE-9C89-E6579664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33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IDA*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BF8C01-6071-40E3-8446-F054AE55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194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exact if search completes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632228-7EEF-451C-8764-76CDCAD2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863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DF82C-A132-4DC2-9D43-89607E74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38700"/>
            <a:ext cx="777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H48/Nissy evidence is useful for cross-checking and exact-oracle discussion, but it does not replace the native Korf/IDA* heuristic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8313169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7015F9-8931-4858-9C0F-F5DA294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738BC-6922-421B-BC49-C6FEA165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6E0280-1746-4E43-85D1-AFEC749F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A4932A-FB00-4698-AA9B-A82DDD71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CLAIM 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FBDE1-5F99-4060-9D95-AC6121D1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Το σημαντικότερο design decision είναι το λεξιλόγιο των αποτελεσμάτων.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A6F40-0DE3-4100-8B75-C0B47C7D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thesis/main.pdf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8BFA6-8DC8-490B-B4ED-D5C9934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B8E59-89D5-4071-8177-A861FC0E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88E97-00EE-4658-B209-59AD952B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9B110-BDF7-4AC7-A89C-3FE5E881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33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A7D4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3A7D44"/>
                </a:solidFill>
                <a:latin typeface="Aptos Mono"/>
                <a:ea typeface="Aptos Mono"/>
                <a:cs typeface="Aptos Mono"/>
              </a:rPr>
              <a:t>exact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8D390-D5A8-44D8-B114-3D416D60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765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η παραδεκτή αναζήτηση ολοκληρώθηκε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33437-2FD1-4764-86FC-0BF2928C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39450-68B4-43FD-B1EF-41EDB6B5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9B96B-013E-40EF-B2CB-979BCDB3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C9E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2B6C9E"/>
                </a:solidFill>
                <a:latin typeface="Aptos Mono"/>
                <a:ea typeface="Aptos Mono"/>
                <a:cs typeface="Aptos Mono"/>
              </a:rPr>
              <a:t>non_exact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66F8E-1A95-4C80-852C-02D50098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767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η λύση επαληθεύεται, όχι όμως η ελαχιστότητα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0D474-5692-4CC7-B181-A5ED0418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ED743-F61D-4D6B-A7DE-D4BEEE42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BCFEE-B6EF-4D2D-A87C-E5C820F6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892B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C5892B"/>
                </a:solidFill>
                <a:latin typeface="Aptos Mono"/>
                <a:ea typeface="Aptos Mono"/>
                <a:cs typeface="Aptos Mono"/>
              </a:rPr>
              <a:t>lower_bound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A0DF8-E4F9-4902-A35E-18405C6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αποδεικνύεται μόνο φράγμα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16040-B980-4463-999F-73C6CD5D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9812C-5BD0-4835-870A-AA6B94F2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9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D8DAB-1051-4DF7-8DA4-EE576331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3D2B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C43D2B"/>
                </a:solidFill>
                <a:latin typeface="Aptos Mono"/>
                <a:ea typeface="Aptos Mono"/>
                <a:cs typeface="Aptos Mono"/>
              </a:rPr>
              <a:t>timeout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16A32-969A-4122-8597-6A19A7A3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η εκτέλεση σταμάτησε χωρίς πλήρη απόδειξη</a:t>
            </a:r>
          </a:p>
        </p:txBody>
      </p:sp>
    </p:spTree>
    <p:extLst>
      <p:ext uri="{BB962C8B-B14F-4D97-AF65-F5344CB8AC3E}">
        <p14:creationId xmlns:p14="http://schemas.microsoft.com/office/powerpoint/2010/main" val="18008371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17C51-D477-40EA-9E80-3E331BA2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DF321-1BDF-43AB-BCC9-6EB268E6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1267B3A-B5AB-4A3D-BCAD-AC000B44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E7E0F20-D777-4C8F-BE95-E9CC894E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EXPERIMENT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C8645-EA56-4F48-BA22-12B8BAE2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Τα αποτελέσματα είναι μικρής κλίμακας αλλά αναπαραγώγιμα και verifier-backed.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C70A8-DD96-4111-84FF-7BE9057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thesis/tables/*.tex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481B8-AD14-4730-AF2E-8CC27816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5BC11-16DB-4D31-8D93-F2024B1F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2669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3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119F-9999-4F93-AC25-ACE9166D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3D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43D2B"/>
                </a:solidFill>
                <a:latin typeface="Aptos"/>
                <a:ea typeface="Aptos"/>
                <a:cs typeface="Aptos"/>
              </a:rPr>
              <a:t>Corpus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B1920-A6A0-40C3-9C1F-F6E5DED8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13 cases per solver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E1107-98B2-471A-8D2C-5CD5AD9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solved, shallow BFS cases, deterministic random depths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8C7FF-9EE4-4EF1-BB91-008D45A7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22669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61144-7F95-4AB1-A33E-9112DAA2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6C9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B6C9E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6E7ED-12CE-4CDD-BEC7-F64EA036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conventional computer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F3DEA-44CF-4EB1-BF7E-C0B63161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9570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Python orchestration plus C/C++ where 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52AED-5D69-460B-B502-5A201BD2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2669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3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88870-3A9C-4C68-9468-67C9F9AF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A7D4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A7D44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C9900-718A-471A-BCB4-0A759FD5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saved 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5515C-27B7-49CC-AEF5-D9A09C12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raw rows, processed summaries, generated LaTeX tables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30504-D9D1-4B1D-9594-DD46BFD1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43150"/>
            <a:ext cx="22669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878E2-D92D-4433-8B3E-5A087423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589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5892B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BD5C3-93F9-4A94-81B9-2EFE618B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480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52 rows checked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C8D13-BA95-470B-9C2A-3B480E30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9570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independent application of returned solutions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7DC59-DCC2-4D28-9A0E-58527CA8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387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Οι χρόνοι είναι ενδεικτικοί για το συγκεκριμένο περιβάλλον, όχι καθολικός ισχυρισμός απόδοσης.</a:t>
            </a:r>
          </a:p>
        </p:txBody>
      </p:sp>
    </p:spTree>
    <p:extLst>
      <p:ext uri="{BB962C8B-B14F-4D97-AF65-F5344CB8AC3E}">
        <p14:creationId xmlns:p14="http://schemas.microsoft.com/office/powerpoint/2010/main" val="19613583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4C6E59-A488-49B4-9581-C667BB1F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C4BF2-EC76-486D-9374-EAE6B526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553369C-AF16-4569-B73C-4864454B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5D4611-4139-4012-9A8C-687AEFED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MAIN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8B492-30DD-4D79-B45E-4E9C2A78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Στο βασικό corpus, ο Korf αποδεικνύει exact cases και οι πρακτικοί solvers επιστρέφουν επαληθευμένες λύσεις.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136A0-F48D-4343-A003-76E55898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thesis/tables/*.tex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4FE34-EC55-40EE-A9B6-72DF288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9B320-4B2D-43DF-B295-A49A97BE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BC8C6-CBA4-417A-AF7C-FC7475C5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346563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B1FC2-FAC9-46CC-9B7A-6D2D5DDF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3755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Korf exact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63403-27CB-4DA5-8946-49C09D7A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383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0838E-19C9-4CF2-BAB2-201CDD90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3CD22-5AF2-4014-8116-69DAF62A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63011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26148-1ECC-4E9E-88DF-CD5D7C60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3755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Korf lower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5703B-D140-4D90-A244-4B010550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5272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382CC-5DEA-4B6B-87F5-EF44A80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ADB44-C4C4-4B83-9756-DFEE57F6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D0C3D-087E-4325-A792-5E4B373D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3755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Kociemba native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34102-DA52-486C-9A2A-6C507D7B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670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53054-F84E-447F-90CB-2F6E71E0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88B22-5CB0-4077-AEAF-274472FE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73122-ADFB-47BB-9098-5AF09AEC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23755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Kociemba ext.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831AE-E8F1-40FA-885F-75C02893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8142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31FBB-5EA0-4AFD-80BB-A761A8FD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2BFFA2-5EA9-4561-9D98-5F156D4B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C6149D-C666-4005-B171-1CB7F8E1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3755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Thistlethwaite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2764F-C37B-411F-BA34-F4D3DEC1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957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76DC10-E79B-4A1E-B183-4CCB68DE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14763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EDFF9D-4819-478D-A927-7D4C4FB2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52675"/>
            <a:ext cx="1285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Solver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32350A-1403-4582-8C66-8C0086CA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63F733-7FA9-47DB-B02D-63E69C51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526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Median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D4FB38-D541-4B06-82A7-59B8E21B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BFEED-7B32-4BFF-805C-40657AC5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526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Max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CD7480-4858-44C2-91EF-FD7294B1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0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C36761-4441-4F03-9E6A-36258453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Claim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072290-2F41-4B06-B917-3CA6FE3D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14763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FA1E05-0482-4289-A2AB-ACAED809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47975"/>
            <a:ext cx="1285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Korf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58B3F9-6913-4543-8452-A67DDE67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2F6798-2E24-4BB2-A642-E20D2389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479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0.030s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B3EF82-EE6D-431F-9F2A-9D0765D7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CD1C12-28AF-40DE-980F-14AB8703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479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2.024s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B68187-D231-4FC5-B996-0C531269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E4F0C1-75A2-4C7B-A773-F805EB9A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479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exact/lb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BD5F4F-2006-4857-A950-5DF9E294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57550"/>
            <a:ext cx="14763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C7166E-BD74-48F0-B121-BB8457C5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43275"/>
            <a:ext cx="1285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Koc. native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D5D353-BE1B-47B2-AFFD-E2A24C97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C42B25-B854-4A9F-A4DB-3E642E5D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432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0.003s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F5F65F-6D82-4F3A-AF7A-B229E493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575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95218E-4DE7-4B83-99A6-4CE3F7D5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432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10.638s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12CAE6-4FA5-4038-A889-E9D8403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575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56D82F-5B73-434A-AD81-E661910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432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non_exact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E51FF5-B0BB-4FA2-8CD1-7C50AE71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52850"/>
            <a:ext cx="14763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A42599-CEC9-4684-923B-CD23144A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38575"/>
            <a:ext cx="1285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Koc. ext.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E2D170-B90E-4411-8F6B-D47FB91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45D3A2-D0AF-4EEA-890B-790B7D2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385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0.000s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EDC2B3-1E80-4E9D-A54F-85005626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528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9206CB-850F-4AEA-866F-4301763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385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0.098s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FE3799-A130-4A6F-B790-49C3CA51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528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8F6A73-EA35-4F80-ADDB-F9F1675C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385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non_exact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76F714-FC41-4277-8B04-1CC75D04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48150"/>
            <a:ext cx="14763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8E0C75-D897-4C67-8784-03FF6AD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1285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318"/>
                </a:solidFill>
                <a:latin typeface="Aptos"/>
                <a:ea typeface="Aptos"/>
                <a:cs typeface="Aptos"/>
              </a:rPr>
              <a:t>Thistle.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3AAD9E-D9FF-441C-92E7-F996334E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BFE1E9-3F9D-4991-8171-807F4906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0.014s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555C5B-36BE-47EE-BFCC-CCCF1318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481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22CE39-BD85-4F7B-A6A4-AE7905FD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1.515s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B890444-301C-4749-AC02-8886A2E1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48150"/>
            <a:ext cx="1000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35F3218-C3E1-41B4-9C03-5BB7785A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33875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318"/>
                </a:solidFill>
                <a:latin typeface="Aptos Mono"/>
                <a:ea typeface="Aptos Mono"/>
                <a:cs typeface="Aptos Mono"/>
              </a:rPr>
              <a:t>non_exact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DF2BE7-DCC7-4FE6-88B3-AD9C0860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911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Interpretation: speed is secondary; the important distinction is what each result proves.</a:t>
            </a:r>
          </a:p>
        </p:txBody>
      </p:sp>
    </p:spTree>
    <p:extLst>
      <p:ext uri="{BB962C8B-B14F-4D97-AF65-F5344CB8AC3E}">
        <p14:creationId xmlns:p14="http://schemas.microsoft.com/office/powerpoint/2010/main" val="13882781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E05255-FB95-4257-AC2A-4C1AC64B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411CC-9EF3-40E1-B997-C8489D18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5AAAB0-CF91-45E4-A7BC-E83221B7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CF1EF9-B783-4A45-80F6-0EBDF4F2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DISTANCE RECOGNITION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E64F6-C2AA-43D1-BD79-09107D09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Η απόσταση δηλώνεται exact μόνο όταν η αντίστοιχη αναζήτηση ολοκληρώνεται.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141DA-6903-4E6C-9D60-4EBC8CFF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thesis/tables/*.tex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D2DEF-E3C1-4F12-BC9D-030B053F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1FB79-FAA2-49D7-BE50-F7C7FC06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A7D4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A7D44"/>
                </a:solidFill>
                <a:latin typeface="Aptos Mono"/>
                <a:ea typeface="Aptos Mono"/>
                <a:cs typeface="Aptos Mono"/>
              </a:rPr>
              <a:t>exact_distance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163CD-2AA4-4558-999F-AA793667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C8C51-ACFA-4CB3-AA07-4F10B239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08C3A-092D-4DF4-AFE6-50038CED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BFS depth &lt;=5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97BC1-97C7-458B-9824-0C092970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050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7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35647-538C-4781-BA23-90A8787C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A7D4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A7D44"/>
                </a:solidFill>
                <a:latin typeface="Aptos Mono"/>
                <a:ea typeface="Aptos Mono"/>
                <a:cs typeface="Aptos Mono"/>
              </a:rPr>
              <a:t>exact_distance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64FC2-6FB8-4E46-B09E-01E522E1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80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D596C-0C71-433F-B9AE-45DCB2D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8050"/>
            <a:ext cx="272142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7248D-B75D-4155-AFEC-A87551D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IDA* depth &lt;=10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E977A-54C0-4D17-B2D2-6BBCFEBE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194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4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04C8A-AD42-4458-94C7-A2648F84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892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5892B"/>
                </a:solidFill>
                <a:latin typeface="Aptos Mono"/>
                <a:ea typeface="Aptos Mono"/>
                <a:cs typeface="Aptos Mono"/>
              </a:rPr>
              <a:t>lower_bound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DAC91-6B7A-4CDE-A5AD-B3980EA5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A3AAD-CA79-4183-96EC-A6915FD6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136071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4BD19-77CC-496F-8D81-54C08C8D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Combined lower bound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1D5D4-5415-4DC5-AE88-43F56D3C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338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2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15CF4-685A-47CF-AC10-3C262DFF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2000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0C29E-89FE-4533-92A8-7D9CE80A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A7D4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A7D44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E104E-A6DB-4B9B-8CF3-9ECA5F3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528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exact-distance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F3CD48-6574-4C2A-933B-AFF247E6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5285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589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5892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F0F91-5A21-467B-B8AF-AEFC1343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8625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lower-bound cases</a:t>
            </a:r>
          </a:p>
        </p:txBody>
      </p:sp>
    </p:spTree>
    <p:extLst>
      <p:ext uri="{BB962C8B-B14F-4D97-AF65-F5344CB8AC3E}">
        <p14:creationId xmlns:p14="http://schemas.microsoft.com/office/powerpoint/2010/main" val="3805959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A1C97A-875D-4529-8152-43AB96A8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E822E-1027-4A32-80F7-E58CA436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0E72CBE-BDAB-48C4-AA3F-B38AC261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B38EE7B-7802-4DC3-B2DB-E2BD21B4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SUPERFLIP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F87C8-ED7C-4268-BBA2-0B00F341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Για το superflip, η εργασία αποδεικνύει με δικό της κώδικα ότι δεν υπάρχει λύση μήκους &lt;=19.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42406-ECEF-44EE-BDC9-995B37F3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90700"/>
            <a:ext cx="809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Η επαληθευμένη λύση μήκους 20 δίνει το άνω φράγμα.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BE15B-1CE7-4BF4-8F4B-B523C078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thesis/tables/*.tex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1B6BA-03DA-42EA-BD35-FCFE24EB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25CE6-1A18-44D3-94AD-6CCAF465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209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7C22C-EF15-4508-B9FB-37EF4D8D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8BCC2-5C5D-4B4D-98B7-13D95560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target bound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609F1-B86A-489E-9AC0-99DBA880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2209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C906C-8537-4647-8940-2EED1B4E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908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11.2B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9DF6B-C6CB-407F-9249-DDF89837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861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expanded nodes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A4CAE-1F28-4B7E-8943-B5D15C44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2209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49B0C-C9DB-47A3-ADC7-ED1E199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149.0B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BA846-D107-49E6-8FE6-C076FF61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generated nodes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CA6D3-D366-4A26-96C2-C0DFB388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81300"/>
            <a:ext cx="2209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6642A-7D88-4AB2-A79F-FB96AA5A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908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589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5892B"/>
                </a:solidFill>
                <a:latin typeface="Aptos Display"/>
                <a:ea typeface="Aptos Display"/>
                <a:cs typeface="Aptos Display"/>
              </a:rPr>
              <a:t>5200.8s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9A75B-FAF4-4347-80A9-3E95D895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861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BEC20-CC35-4588-B2B1-690E6720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8630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F0CE5-8B17-4C6B-9394-1369483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7962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Uses H48/Nissy: false. H48/Nissy appear as independent cross-checks elsewhere, not as the source of this proof.</a:t>
            </a:r>
          </a:p>
        </p:txBody>
      </p:sp>
    </p:spTree>
    <p:extLst>
      <p:ext uri="{BB962C8B-B14F-4D97-AF65-F5344CB8AC3E}">
        <p14:creationId xmlns:p14="http://schemas.microsoft.com/office/powerpoint/2010/main" val="14821051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2D055D-B268-406C-B282-70953CB8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71A02-DED5-493E-9C0B-C549D0AA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36040A-D904-4EC5-8B0A-0616DAD8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84AE3AE-499C-40AB-B0D6-02B2F91B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COMPLETE SMALL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BF537-9683-4CD5-BF3C-8E7FB4DF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Ο κύβος 2x2x2 δείχνει την ίδια μεθοδολογία σε χώρο που χωρά πλήρη απαρίθμηση.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FA7AC-B94C-4EC8-80D4-2817E87F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thesis/tables/*.tex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8B2BF-912A-447C-8ACE-534C7DFE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C4E09-A451-4393-BE75-AA8CDBAD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68BBB-299E-4061-9021-03867904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9D99E-E752-41FE-AFA1-5C5B7E4F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E368F-B559-42BC-AA5E-78D361A0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2AE55-81F9-4537-B1CC-B45876B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00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0E67B-3C10-4F46-B348-524D610F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533B2-338B-40E4-B66A-69BB0C63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00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8D4E8-4FEE-4F68-B8E9-3DB417E0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EE550-D556-44E6-A9E1-4CB80034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00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AABE7-2B5C-42C3-8A12-2C7A3DF8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FC230-1D39-4F1C-AFF4-EBB8B56E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E916B-C7D1-41AC-8718-ED608A5B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E7ADE-7727-454A-8EBD-792E5DFA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3996"/>
            <a:ext cx="381000" cy="55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E7854-C224-43E4-9FE3-DE0A9DC6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94E582-5656-442C-AC41-685DD4E9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67073"/>
            <a:ext cx="381000" cy="2525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7F23B-4B9B-4221-B9B8-E85346F1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AEE71-9A3A-49EC-AF1A-1FF2E5F9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53824"/>
            <a:ext cx="381000" cy="965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E56AC-CE05-46A2-8020-AAC570B0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6EDF71-9FB0-4C87-87AE-EEB5D49C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381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3062E-0CDD-4AA1-AA73-C9DD1313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CA4A82-D871-4B20-B02D-E8BD08CA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27199"/>
            <a:ext cx="381000" cy="69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836AA3-BA04-41DA-A2DC-3A29F19A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D91870-644F-46A0-9D2D-30A45FC3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00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F9A9DF-57FF-49C0-8CB7-93F4208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72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0B7A79-A9C1-4848-849C-42F7385D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4E09F7-088C-4A4F-81DF-321FC879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943A2B-6E0E-4D60-9D64-89C61D9C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43D2B"/>
                </a:solidFill>
                <a:latin typeface="Aptos Display"/>
                <a:ea typeface="Aptos Display"/>
                <a:cs typeface="Aptos Display"/>
              </a:rPr>
              <a:t>3,674,160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15EFC6-9D07-43B1-911B-DC4958F2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enumerated states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0E6E7A-8F47-4818-AEBB-0A54166A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6C9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6C9E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B8F781-FE74-4E47-84BB-95682176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maximum distance in this 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3B62E0-71F7-46B4-B63E-CBF18273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197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Limit: this supports methodology; it does not turn the 3x3x3 into a fully enumerated space.</a:t>
            </a:r>
          </a:p>
        </p:txBody>
      </p:sp>
    </p:spTree>
    <p:extLst>
      <p:ext uri="{BB962C8B-B14F-4D97-AF65-F5344CB8AC3E}">
        <p14:creationId xmlns:p14="http://schemas.microsoft.com/office/powerpoint/2010/main" val="14028617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4C47C5-1E90-49B0-B9F7-DF45A419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C0138-1AA3-4D41-B678-24FE4240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A68217-1D53-49B9-A652-711E31DD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0D0CE8-0EDF-4EE3-99D4-5BEBA1DB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A82B2-118F-4690-8CFB-0B93B375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Οι τρεις στόχοι καλύπτονται, με ρητά όρια για το τι αποδεικνύει κάθε αποτέλεσμα.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DD0D2-D996-49D9-8FBB-6378F079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specs/topic_brief.pdf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4F13F-CBF2-4297-A015-72F666DA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4AA37-B962-46D8-AF09-F3C3621A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9E81B-5517-4FA4-8FB3-32EF838B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11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05343-6666-4A11-8C9A-3BE562D5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3D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43D2B"/>
                </a:solidFill>
                <a:latin typeface="Aptos"/>
                <a:ea typeface="Aptos"/>
                <a:cs typeface="Aptos"/>
              </a:rPr>
              <a:t>Algorithms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FEF66-D361-4B97-B130-94383DE4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66975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Thistlethwaite, Kociemba, Korf implemented and compared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5D9A9-E6C1-4B71-98BA-25A7B452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16CE9-D9AA-4500-8BE2-52B0CC8F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11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27C43-ABCD-4108-BD5F-D48DB84B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C9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6C9E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C671C-99AB-40DF-9D23-BF0AC08C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38525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exact_distance only when proof completes; otherwise lower_bound / timeout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DD0D2-AEE7-4F3B-9E1D-4CFFA070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BEB5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15EEB-04DE-4B3D-9BAC-23282EE5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11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D76CD-8999-485C-B081-16ADB1F5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A7D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A7D44"/>
                </a:solidFill>
                <a:latin typeface="Aptos"/>
                <a:ea typeface="Aptos"/>
                <a:cs typeface="Aptos"/>
              </a:rPr>
              <a:t>Heuristic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42B48-95D8-4714-A5D2-6451FC92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10075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Korf/IDA* with admissible PDB-based lower bounds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6ED33-AD0E-4AE3-97B7-A9296C7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8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Ευχαριστώ για την προσοχή σας</a:t>
            </a:r>
          </a:p>
        </p:txBody>
      </p:sp>
    </p:spTree>
    <p:extLst>
      <p:ext uri="{BB962C8B-B14F-4D97-AF65-F5344CB8AC3E}">
        <p14:creationId xmlns:p14="http://schemas.microsoft.com/office/powerpoint/2010/main" val="2144197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2026-06-13T22:23:33.8680000Z</dcterms:created>
  <dcterms:modified xsi:type="dcterms:W3CDTF">2026-06-13T22:23:33.8680000Z</dcterms:modified>
</coreProperties>
</file>